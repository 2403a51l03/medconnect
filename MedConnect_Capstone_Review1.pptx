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MedConnect is a full-stack web platform addressing the gap in clinic queue visibility and remote consultation.
- State team members, guide name, and university.
- Briefly describe what this review covers: problem identification, literature review, objectives, proposed plan, and existing vs proposed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problem using real-world context.
- Emphasize the patient-side frustration: no visibility, wasted travel time.
- Emphasize the clinic-side issue: manual queue is error-prone and inefficient.
- Conclude: these issues together create a need for an integrated digital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evaluators through the before/after contrast.
- "Without MedConnect" = current clinic reality: uncertainty, wasted time.
- "With MedConnect" = digital flow: book, track, notify, consult.
- Emphasize that both physical and remote consultations are handled by one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each category of existing solution.
- Acknowledge their strengths — they are widely used for good reason.
- Highlight the core limitation: each system solves only part of the problem.
- The gap: no integrated platform exists that connects scheduling, live queue tracking, and teleconsultation.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visually communicates the research gap.
- Point to each existing system and state what it does well and what it misses.
- MedConnect on the right shows what features together fill the gap.
- Emphasize: no competing product integrates all six features in one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primary objective first — this is the one-sentence summary of what the project aims to achieve.
- Then go through the specific objectives grid — 9 measurable sub-goals.
- Emphasize these are PLANNED features, not yet implemented.
- Evaluators should see that the team has clearly defined the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distinct user roles — each with a separate dashboard and access level.
- Patient: self-service booking and queue tracking.
- Doctor: manages consultation workflow and video calls.
- Receptionist: manages clinic operations and walk-in patients.
- Role-based access control ensures each user only sees relevant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overall architecture of MedConnect.
- Left column = user journey from browser down to consultation.
- Right top = two communication channels: REST for standard requests, WebSocket for real-time updates.
- Right middle = WebRTC for peer-to-peer video between patient and doctor.
- Bottom = PostgreSQL stores all data through Prisma 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layer of the stack.
- Frontend: React for reactive, component-based UI.
- Backend: Express handles routing, middleware, and APIs.
- Prisma simplifies type-safe database queries.
- Socket.IO enables persistent connections for real-time events.
- WebRTC is peer-to-peer — no video data passes through the server, only signaling.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four-tier architecture.
- Client Tier: three role-specific UIs built with React.
- API Tier: Express backend handles all requests — REST and WebSocket.
- Service Tier: Prisma = DB access, Socket.IO = real-time push, WebRTC = signaling.
- Data Tier: PostgreSQL as primary DB; Redis optional for queue state caching.
- WebRTC video calls are peer-to-peer — server only handles signaling.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three user journeys in parallel.
- Patient: from booking to consultation completion, all digital.
- Doctor: from schedule view to calling and completing consultations.
- Receptionist: manages clinic operations including walk-in patients.
- All three flows are connected through the shared backend — a status change by the receptionist instantly reflects on the doctor and patient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feature row.
- Highlight that each existing system handles at most 3-4 features.
- MedConnect (green column) is the only system that covers all 12 features.
- Important: MedConnect does NOT claim to eliminate waiting time, only to reduce uncertainty through real-time visibility.
- The teal MedConnect column should visually stand out to evaluators.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makes MedConnect distinctive.
- Focus on the COMBINATION of features, not individual ones.
- Real-time WebSocket integration + WebRTC tele-consultation together in one platform is the key differentiator.
- Role-based design ensures the system is practical and usable for each type of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six phases of development.
- Explain that this is Review 1: requirements analysis and architecture are complete or in progress.
- Phases 3–6 are planned for subsequent reviews.
- This phased approach ensures each layer (DB, API, UI, real-time, video) is built and tested incrementally.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confident summary.
- "Reduces uncertainty" — not eliminates — is accurate and honest language.
- Reinforce the tagline: the core value is VISIBILITY, not just technology.
- Thank the evaluators and invite questions.
- Be ready to explain any architecture decision or design choice from earlier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097280"/>
            <a:ext cx="3474720" cy="347472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560320" cy="256032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122F55"/>
          </a:solidFill>
          <a:ln w="12700">
            <a:solidFill>
              <a:srgbClr val="122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ADE8F4"/>
                </a:solidFill>
              </a:rPr>
              <a:t>SR UNIVERSITY  |  DEPARTMENT OF COMPUTER SCIENCE &amp; ENGINEERING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502920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859536"/>
            <a:ext cx="164592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85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MedConnect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2926080" y="1572768"/>
            <a:ext cx="329184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276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DE8F4"/>
                </a:solidFill>
              </a:rPr>
              <a:t>A Clinic Queue Management and Tele-Consultation Platform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0" y="2231136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2311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</a:rPr>
              <a:t>CAPSTONE PROJECT  REVIEW –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D2E50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2871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Team Members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31455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[Name 1]  |  [Name 2]  |  [Name 3]  |  [Name 4]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28346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D2E50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10128" y="2871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Roll Numbers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10128" y="31455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[XXXXXX]  |  [XXXXXX]  |  [XXXXXX]  |  [XXXXXX]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28346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D2E50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44768" y="2871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Project Guide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44768" y="31455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[Guide Name, Designation]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B8"/>
                </a:solidFill>
              </a:rPr>
              <a:t>Academic Year 2025–2026   •   Evaluation: 25 Marks   •   B.Tech CSE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Identification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1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77824"/>
            <a:ext cx="45720" cy="113385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50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4984" y="95097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Unpredictable Wait Times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4984" y="12801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Patients wait for hours without knowing when the doctor will be available.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841248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77824"/>
            <a:ext cx="45720" cy="113385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950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49824" y="95097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No Queue Visibility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9824" y="12801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Patients cannot see their current position or estimate when their turn arrives.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19456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231136"/>
            <a:ext cx="45720" cy="113385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14984" y="230428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Manual Queue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4984" y="26334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Reception manages queues manually—errors, delays, and miscommunication are common.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31136"/>
            <a:ext cx="45720" cy="113385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49824" y="230428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Unnecessary Physical Visits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9824" y="26334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Patients travel to the clinic even for simple follow-ups that could be done remotely.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547872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584448"/>
            <a:ext cx="45720" cy="113385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14984" y="365760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Poor Communication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4984" y="39867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No real-time channel between patient, doctor, and reception for status updates.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547872"/>
            <a:ext cx="41605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584448"/>
            <a:ext cx="45720" cy="113385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49824" y="365760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Booking ≠ Queue Position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9824" y="398678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Appointment booking systems do not reflect actual live waiting queues.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773168"/>
            <a:ext cx="8503920" cy="256032"/>
          </a:xfrm>
          <a:prstGeom prst="roundRect">
            <a:avLst>
              <a:gd name="adj" fmla="val 14286"/>
            </a:avLst>
          </a:prstGeom>
          <a:solidFill>
            <a:srgbClr val="0A2342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Core Issue: Lack of an integrated system for real-time queue visibility, appointment management, and remote consultation.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Scenario  –  Real-World Use Case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1 / 5 Marks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WITHOUT MedConnect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52144"/>
            <a:ext cx="4023360" cy="43891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521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  Travel to clinic at 10:00 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4023360" cy="43891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  Register at reception desk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4023360" cy="43891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762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  Receive a paper token number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4023360" cy="43891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883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  Sit and wait — no queue info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4023360" cy="43891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5  Repeatedly ask reception for updates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12464"/>
            <a:ext cx="4023360" cy="43891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12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6  Extra delay if prior cases overrun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70832" y="228600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77B6"/>
                </a:solidFill>
              </a:rPr>
              <a:t>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29768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77B6"/>
                </a:solidFill>
              </a:rPr>
              <a:t>MedConnect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77B6"/>
                </a:solidFill>
              </a:rPr>
              <a:t>solution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00600" y="77724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A77D"/>
                </a:solidFill>
              </a:rPr>
              <a:t>WITH MedConnect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152144"/>
            <a:ext cx="402336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1521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Book appointment online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1664208"/>
            <a:ext cx="4023360" cy="438912"/>
          </a:xfrm>
          <a:prstGeom prst="rect">
            <a:avLst/>
          </a:prstGeom>
          <a:solidFill>
            <a:srgbClr val="F7FFFE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Receive digital queue token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176272"/>
            <a:ext cx="402336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1762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Track live queue from home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688336"/>
            <a:ext cx="4023360" cy="438912"/>
          </a:xfrm>
          <a:prstGeom prst="rect">
            <a:avLst/>
          </a:prstGeom>
          <a:solidFill>
            <a:srgbClr val="F7FFFE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6883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Get notified when turn approaches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200400"/>
            <a:ext cx="402336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200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Join in-clinic OR tele-consultation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712464"/>
            <a:ext cx="4023360" cy="438912"/>
          </a:xfrm>
          <a:prstGeom prst="rect">
            <a:avLst/>
          </a:prstGeom>
          <a:solidFill>
            <a:srgbClr val="F7FFFE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712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 Consultation completed efficiently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773168"/>
            <a:ext cx="8503920" cy="256032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MedConnect supports both In-Clinic and Remote Tele-Consultation from a single platform.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Literature Review  –  Existing System Categories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2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804672"/>
            <a:ext cx="2743200" cy="385876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804672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8046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🗂️  Traditional Manual Queues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A77D"/>
                </a:solidFill>
              </a:rPr>
              <a:t>Strengths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7922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✓  Simple to operate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066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✓  Token-based numbering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✓  Zero technical setup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Limitations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2999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✗  No real-time visibility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3273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✗  Manual updates only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3547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✗  Long wait times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" y="3822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✗  Prone to miscommunication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804672"/>
            <a:ext cx="2743200" cy="385876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804672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0096C7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8046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 Online Appointment Booking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A77D"/>
                </a:solidFill>
              </a:rPr>
              <a:t>Strengths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✓  Online scheduling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2066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✓  Doctor availability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✓  Digital records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Limitations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2999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✗  Booking ≠ live queue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37560" y="3273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✗  Limited real-time tracking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3547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✗  No queue management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08192" y="804672"/>
            <a:ext cx="2743200" cy="385876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08192" y="804672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6199632" y="8046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💻  Telemedicine Platforms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45352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A77D"/>
                </a:solidFill>
              </a:rPr>
              <a:t>Strengths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45352" y="17922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✓  Video consultation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45352" y="2066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✓  Remote doctor access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45352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✓  Digital prescriptions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45352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Limitations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45352" y="2999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✗  Not focused on queues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45352" y="3273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✗  No physical integration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45352" y="3547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✗  Separate booking needed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92608" y="4663440"/>
            <a:ext cx="8558784" cy="384048"/>
          </a:xfrm>
          <a:prstGeom prst="roundRect">
            <a:avLst>
              <a:gd name="adj" fmla="val 11905"/>
            </a:avLst>
          </a:prstGeom>
          <a:solidFill>
            <a:srgbClr val="0A2342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6634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DE8F4"/>
                </a:solidFill>
              </a:rPr>
              <a:t>Research Gap: No single existing system combines appointment management + real-time queue tracking + tele-consultation.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Gap &amp;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2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1828800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Appointment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Systems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A77D"/>
                </a:solidFill>
              </a:rPr>
              <a:t>✓ Good at scheduling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5910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✗ No live queue tracking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43000" y="2029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9144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914400"/>
            <a:ext cx="1828800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Telemedicine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Platforms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1298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A77D"/>
                </a:solidFill>
              </a:rPr>
              <a:t>✓ Remote consultation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51760" y="15910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✗ No physical queue link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2029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14400"/>
            <a:ext cx="1828800" cy="3200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Manual Clinic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Systems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298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A77D"/>
                </a:solidFill>
              </a:rPr>
              <a:t>✓ Simple to operate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15910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✗ No automation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32120" y="2029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217627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None of these address all clinic management needs together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868680"/>
            <a:ext cx="2057400" cy="3657600"/>
          </a:xfrm>
          <a:prstGeom prst="roundRect">
            <a:avLst>
              <a:gd name="adj" fmla="val 4444"/>
            </a:avLst>
          </a:prstGeom>
          <a:solidFill>
            <a:srgbClr val="0A2342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960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Connect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1645920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DE8F4"/>
                </a:solidFill>
              </a:rPr>
              <a:t>Bridges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ADE8F4"/>
                </a:solidFill>
              </a:rPr>
              <a:t>all gaps 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2103120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0077B6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210312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Appointment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Management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3720" y="2505456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0077B6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2505456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Real-Time Queue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Tracking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03720" y="2907792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290779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Doctor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Availability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03720" y="3310128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0077B6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3310128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Patient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Notifications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03720" y="3712464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0077B6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3712464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Video Tele-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Consultation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903720" y="4114800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0077B6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411480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Role-Based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Dashboards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4773168"/>
            <a:ext cx="6400800" cy="256032"/>
          </a:xfrm>
          <a:prstGeom prst="roundRect">
            <a:avLst>
              <a:gd name="adj" fmla="val 14286"/>
            </a:avLst>
          </a:prstGeom>
          <a:solidFill>
            <a:srgbClr val="0096C7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7731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MedConnect is proposed to bridge the identified research and development gap.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3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713232"/>
          </a:xfrm>
          <a:prstGeom prst="roundRect">
            <a:avLst>
              <a:gd name="adj" fmla="val 8974"/>
            </a:avLst>
          </a:prstGeom>
          <a:solidFill>
            <a:srgbClr val="0A234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22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DE8F4"/>
                </a:solidFill>
              </a:rPr>
              <a:t>Primary 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06070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To develop an integrated clinic management platform that reduces patient waiting uncertainty by providing appointment scheduling, real-time queue tracking, and tele-consultation capabilities.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Specific Objectives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9568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5256" y="2139696"/>
            <a:ext cx="27432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996696" y="195681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Digital appointment booking 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956816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9568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85616" y="2139696"/>
            <a:ext cx="27432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3877056" y="195681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Real-time queue / token tracking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956816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19568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65976" y="2139696"/>
            <a:ext cx="27432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2" name="Text 20"/>
          <p:cNvSpPr/>
          <p:nvPr/>
        </p:nvSpPr>
        <p:spPr>
          <a:xfrm>
            <a:off x="6757416" y="195681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Patient queue position visibility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871216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28712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👨‍⚕️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5256" y="3054096"/>
            <a:ext cx="27432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6" name="Text 24"/>
          <p:cNvSpPr/>
          <p:nvPr/>
        </p:nvSpPr>
        <p:spPr>
          <a:xfrm>
            <a:off x="996696" y="287121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Doctor consultation dashboard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2871216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0" y="28712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🗃️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785616" y="3054096"/>
            <a:ext cx="27432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0" name="Text 28"/>
          <p:cNvSpPr/>
          <p:nvPr/>
        </p:nvSpPr>
        <p:spPr>
          <a:xfrm>
            <a:off x="3877056" y="287121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Receptionist appointment &amp; queue tools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2871216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72200" y="28712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🎥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665976" y="3054096"/>
            <a:ext cx="27432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6757416" y="287121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Online video tele-consultation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785616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1480" y="37856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05256" y="3968496"/>
            <a:ext cx="27432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8" name="Text 36"/>
          <p:cNvSpPr/>
          <p:nvPr/>
        </p:nvSpPr>
        <p:spPr>
          <a:xfrm>
            <a:off x="996696" y="378561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Secure authentication &amp; role-based access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785616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291840" y="37856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785616" y="3968496"/>
            <a:ext cx="27432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2" name="Text 40"/>
          <p:cNvSpPr/>
          <p:nvPr/>
        </p:nvSpPr>
        <p:spPr>
          <a:xfrm>
            <a:off x="3877056" y="378561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Real-time patient notifications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3785616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172200" y="378561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665976" y="3968496"/>
            <a:ext cx="27432" cy="43891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6" name="Text 44"/>
          <p:cNvSpPr/>
          <p:nvPr/>
        </p:nvSpPr>
        <p:spPr>
          <a:xfrm>
            <a:off x="6757416" y="378561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Reduce unnecessary physical waiting time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Target Users &amp; Functional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3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786384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8638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🧑‍💼  Patient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" y="1408176"/>
            <a:ext cx="2743200" cy="349300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572768"/>
            <a:ext cx="182880" cy="1828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15179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Register / Login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1975104"/>
            <a:ext cx="182880" cy="1828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1920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Search &amp; select doctor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2377440"/>
            <a:ext cx="182880" cy="1828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23225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Book appointment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" y="2779776"/>
            <a:ext cx="182880" cy="1828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27249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Receive queue token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" y="3182112"/>
            <a:ext cx="182880" cy="1828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31272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Track live queue position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584448"/>
            <a:ext cx="182880" cy="1828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35295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Receive turn notifications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" y="3986784"/>
            <a:ext cx="182880" cy="1828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39319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Join tele-consultation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" y="4389120"/>
            <a:ext cx="182880" cy="18288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43342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View consultation history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786384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3273552" y="78638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👨‍⚕️  Doctor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200400" y="1408176"/>
            <a:ext cx="2743200" cy="349300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46704" y="1572768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602736" y="15179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Secure login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46704" y="1975104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3602736" y="1920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View appointment schedule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46704" y="237744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3602736" y="23225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View current queue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46704" y="2779776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3602736" y="27249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Call next patient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46704" y="3182112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3602736" y="31272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Start / complete consultation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46704" y="3584448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3602736" y="35295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Conduct video consultation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46704" y="3986784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3602736" y="39319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Manage availability status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08192" y="786384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0096C7"/>
          </a:solidFill>
          <a:ln/>
        </p:spPr>
      </p:sp>
      <p:sp>
        <p:nvSpPr>
          <p:cNvPr id="44" name="Text 42"/>
          <p:cNvSpPr/>
          <p:nvPr/>
        </p:nvSpPr>
        <p:spPr>
          <a:xfrm>
            <a:off x="6181344" y="78638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🗂️  Receptionist / Admin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108192" y="1408176"/>
            <a:ext cx="2743200" cy="3493008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54496" y="1572768"/>
            <a:ext cx="182880" cy="18288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47" name="Text 45"/>
          <p:cNvSpPr/>
          <p:nvPr/>
        </p:nvSpPr>
        <p:spPr>
          <a:xfrm>
            <a:off x="6510528" y="15179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Register new patients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54496" y="1975104"/>
            <a:ext cx="182880" cy="18288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49" name="Text 47"/>
          <p:cNvSpPr/>
          <p:nvPr/>
        </p:nvSpPr>
        <p:spPr>
          <a:xfrm>
            <a:off x="6510528" y="1920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Manage appointments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54496" y="2377440"/>
            <a:ext cx="182880" cy="18288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51" name="Text 49"/>
          <p:cNvSpPr/>
          <p:nvPr/>
        </p:nvSpPr>
        <p:spPr>
          <a:xfrm>
            <a:off x="6510528" y="23225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Handle walk-in patients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54496" y="2779776"/>
            <a:ext cx="182880" cy="18288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53" name="Text 51"/>
          <p:cNvSpPr/>
          <p:nvPr/>
        </p:nvSpPr>
        <p:spPr>
          <a:xfrm>
            <a:off x="6510528" y="27249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Manage queue order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254496" y="3182112"/>
            <a:ext cx="182880" cy="18288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55" name="Text 53"/>
          <p:cNvSpPr/>
          <p:nvPr/>
        </p:nvSpPr>
        <p:spPr>
          <a:xfrm>
            <a:off x="6510528" y="31272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Monitor doctor availability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254496" y="3584448"/>
            <a:ext cx="182880" cy="18288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57" name="Text 55"/>
          <p:cNvSpPr/>
          <p:nvPr/>
        </p:nvSpPr>
        <p:spPr>
          <a:xfrm>
            <a:off x="6510528" y="352958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Update patient status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System – MedConnect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4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3474720" cy="475488"/>
          </a:xfrm>
          <a:prstGeom prst="roundRect">
            <a:avLst>
              <a:gd name="adj" fmla="val 11538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0467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Patient Browser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29844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3474720" cy="475488"/>
          </a:xfrm>
          <a:prstGeom prst="roundRect">
            <a:avLst>
              <a:gd name="adj" fmla="val 11538"/>
            </a:avLst>
          </a:prstGeom>
          <a:solidFill>
            <a:srgbClr val="0096C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3898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Web Application (React + Vite)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1883664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75104"/>
            <a:ext cx="34747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9751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 Appointment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468880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3474720" cy="475488"/>
          </a:xfrm>
          <a:prstGeom prst="roundRect">
            <a:avLst>
              <a:gd name="adj" fmla="val 11538"/>
            </a:avLst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5603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🔢  Queue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054096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45536"/>
            <a:ext cx="3474720" cy="475488"/>
          </a:xfrm>
          <a:prstGeom prst="roundRect">
            <a:avLst>
              <a:gd name="adj" fmla="val 11538"/>
            </a:avLst>
          </a:prstGeom>
          <a:solidFill>
            <a:srgbClr val="0096C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1455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 Real-Time Communication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4520" y="3639312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730752"/>
            <a:ext cx="34747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7307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🖥️  Doctor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4224528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315968"/>
            <a:ext cx="3474720" cy="475488"/>
          </a:xfrm>
          <a:prstGeom prst="roundRect">
            <a:avLst>
              <a:gd name="adj" fmla="val 11538"/>
            </a:avLst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3159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 Consultation (In-Clinic / Tele)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804672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0" y="804672"/>
            <a:ext cx="4709160" cy="3657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8046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Communication Channels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51960" y="1243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REST API (HTTP)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51960" y="1517904"/>
            <a:ext cx="2011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Appointment booking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User authentication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Doctor / patient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Standard CRUD operations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55080" y="1243584"/>
            <a:ext cx="27432" cy="1444752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1243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WebSocket (Socket.IO)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73952" y="1517904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Live queue position updates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Doctor availability changes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Real-time notifications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• Instant status changes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0" y="2926080"/>
            <a:ext cx="4709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0" y="2926080"/>
            <a:ext cx="4709160" cy="32918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0" y="292608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Tele-Consultation – WebRTC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51960" y="33101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Patient Browser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331012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</a:rPr>
              <a:t>⟺  WebRTC  ⟺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33101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Doctor Browser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0" y="4023360"/>
            <a:ext cx="4709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206240" y="40233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🗄️  PostgreSQL (via Prisma ORM)  —  Persistent data store for all entities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4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822960"/>
            <a:ext cx="4160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822960"/>
            <a:ext cx="1188720" cy="932688"/>
          </a:xfrm>
          <a:prstGeom prst="roundRect">
            <a:avLst>
              <a:gd name="adj" fmla="val 7843"/>
            </a:avLst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8229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" y="12984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72768" y="8869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React.js + Vite + Tailwind CSS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12252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Responsive dashboards for Patient, Doctor &amp; Receptionist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27448" y="822960"/>
            <a:ext cx="4160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822960"/>
            <a:ext cx="1188720" cy="932688"/>
          </a:xfrm>
          <a:prstGeom prst="roundRect">
            <a:avLst>
              <a:gd name="adj" fmla="val 7843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8229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27448" y="12984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Backend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07608" y="8869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Node.js + Express.js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07608" y="12252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REST APIs, business logic, authentication, queue management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1865376"/>
            <a:ext cx="4160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1865376"/>
            <a:ext cx="1188720" cy="932688"/>
          </a:xfrm>
          <a:prstGeom prst="roundRect">
            <a:avLst>
              <a:gd name="adj" fmla="val 7843"/>
            </a:avLst>
          </a:prstGeom>
          <a:solidFill>
            <a:srgbClr val="0096C7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18653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92608" y="23408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Database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72768" y="19293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PostgreSQL + Prisma ORM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72768" y="2267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Persistent storage: users, appointments, queues, records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27448" y="1865376"/>
            <a:ext cx="4160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1865376"/>
            <a:ext cx="1188720" cy="932688"/>
          </a:xfrm>
          <a:prstGeom prst="roundRect">
            <a:avLst>
              <a:gd name="adj" fmla="val 7843"/>
            </a:avLst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727448" y="18653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27448" y="23408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Real-Time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07608" y="19293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Socket.IO / WebSockets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07608" y="2267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Live queue updates, notifications, status changes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2608" y="2907792"/>
            <a:ext cx="4160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2608" y="2907792"/>
            <a:ext cx="1188720" cy="932688"/>
          </a:xfrm>
          <a:prstGeom prst="roundRect">
            <a:avLst>
              <a:gd name="adj" fmla="val 7843"/>
            </a:avLst>
          </a:prstGeom>
          <a:solidFill>
            <a:srgbClr val="005F73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" y="29077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🎥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92608" y="33832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Tele-Consult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72768" y="297180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WebRTC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72768" y="33101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Real-time audio/video between doctor and patient browsers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27448" y="2907792"/>
            <a:ext cx="4160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27448" y="2907792"/>
            <a:ext cx="1188720" cy="932688"/>
          </a:xfrm>
          <a:prstGeom prst="roundRect">
            <a:avLst>
              <a:gd name="adj" fmla="val 7843"/>
            </a:avLst>
          </a:prstGeom>
          <a:solidFill>
            <a:srgbClr val="0A2342"/>
          </a:solidFill>
          <a:ln/>
        </p:spPr>
      </p:sp>
      <p:sp>
        <p:nvSpPr>
          <p:cNvPr id="39" name="Text 37"/>
          <p:cNvSpPr/>
          <p:nvPr/>
        </p:nvSpPr>
        <p:spPr>
          <a:xfrm>
            <a:off x="4727448" y="29077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727448" y="33832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Auth &amp; Security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07608" y="297180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JWT + RBAC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07608" y="33101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Secure login with Patient | Doctor | Receptionist roles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92608" y="3950208"/>
            <a:ext cx="4160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92608" y="3950208"/>
            <a:ext cx="1188720" cy="932688"/>
          </a:xfrm>
          <a:prstGeom prst="roundRect">
            <a:avLst>
              <a:gd name="adj" fmla="val 7843"/>
            </a:avLst>
          </a:prstGeom>
          <a:solidFill>
            <a:srgbClr val="003554"/>
          </a:solidFill>
          <a:ln/>
        </p:spPr>
      </p:sp>
      <p:sp>
        <p:nvSpPr>
          <p:cNvPr id="45" name="Text 43"/>
          <p:cNvSpPr/>
          <p:nvPr/>
        </p:nvSpPr>
        <p:spPr>
          <a:xfrm>
            <a:off x="292608" y="39502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292608" y="44256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Cache (Optional)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72768" y="401421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Redis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572768" y="435254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Fast queue-state caching and session data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27448" y="3950208"/>
            <a:ext cx="4160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27448" y="3950208"/>
            <a:ext cx="1188720" cy="932688"/>
          </a:xfrm>
          <a:prstGeom prst="roundRect">
            <a:avLst>
              <a:gd name="adj" fmla="val 7843"/>
            </a:avLst>
          </a:prstGeom>
          <a:solidFill>
            <a:srgbClr val="1C7293"/>
          </a:solidFill>
          <a:ln/>
        </p:spPr>
      </p:sp>
      <p:sp>
        <p:nvSpPr>
          <p:cNvPr id="51" name="Text 49"/>
          <p:cNvSpPr/>
          <p:nvPr/>
        </p:nvSpPr>
        <p:spPr>
          <a:xfrm>
            <a:off x="4727448" y="39502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727448" y="44256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Dev Tools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07608" y="401421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Git · GitHub · VS Code · Postman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007608" y="435254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Version control, testing, and collaborative development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4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786384"/>
            <a:ext cx="502920" cy="960120"/>
          </a:xfrm>
          <a:prstGeom prst="rect">
            <a:avLst/>
          </a:prstGeom>
          <a:solidFill>
            <a:srgbClr val="ADE8F4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292608" y="786384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CLIENT TIER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1810512"/>
            <a:ext cx="502920" cy="960120"/>
          </a:xfrm>
          <a:prstGeom prst="rect">
            <a:avLst/>
          </a:prstGeom>
          <a:solidFill>
            <a:srgbClr val="CAF0F8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292608" y="1810512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API TIER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2608" y="2834640"/>
            <a:ext cx="502920" cy="96012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292608" y="28346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SERVICE TIER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2608" y="3858768"/>
            <a:ext cx="502920" cy="9601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 rot="16200000">
            <a:off x="292608" y="3858768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DATA TIER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60120" y="822960"/>
            <a:ext cx="1920240" cy="896112"/>
          </a:xfrm>
          <a:prstGeom prst="round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822960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822960"/>
            <a:ext cx="1920240" cy="896112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822960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822960"/>
            <a:ext cx="1920240" cy="896112"/>
          </a:xfrm>
          <a:prstGeom prst="roundRect">
            <a:avLst>
              <a:gd name="adj" fmla="val 7143"/>
            </a:avLst>
          </a:prstGeom>
          <a:solidFill>
            <a:srgbClr val="0096C7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822960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Receptionist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1627632"/>
            <a:ext cx="649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React.js + Vite + Tailwind CSS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177393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177393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77393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1901952"/>
            <a:ext cx="6949440" cy="841248"/>
          </a:xfrm>
          <a:prstGeom prst="roundRect">
            <a:avLst>
              <a:gd name="adj" fmla="val 7609"/>
            </a:avLst>
          </a:prstGeom>
          <a:solidFill>
            <a:srgbClr val="0A2342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1901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Node.js  +  Express.js  Backend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22677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E8F4"/>
                </a:solidFill>
              </a:rPr>
              <a:t>REST API  •  JWT Auth  •  WebSocket (Socket.IO) Signaling  •  WebRTC Signaling Server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71600" y="27614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27614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27614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0120" y="292608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0077B6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29260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Prisma ORM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401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E8F4"/>
                </a:solidFill>
              </a:rPr>
              <a:t>Type-safe DB queries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292608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3246120" y="29260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Socket.IO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46120" y="3401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E8F4"/>
                </a:solidFill>
              </a:rPr>
              <a:t>Real-time events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32120" y="292608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0096C7"/>
          </a:solidFill>
          <a:ln/>
        </p:spPr>
      </p:sp>
      <p:sp>
        <p:nvSpPr>
          <p:cNvPr id="38" name="Text 36"/>
          <p:cNvSpPr/>
          <p:nvPr/>
        </p:nvSpPr>
        <p:spPr>
          <a:xfrm>
            <a:off x="5532120" y="29260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WebRTC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3401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E8F4"/>
                </a:solidFill>
              </a:rPr>
              <a:t>P2P Video/Audio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737360" y="3749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7B6"/>
                </a:solidFill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0120" y="393192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" y="39319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🗄️  PostgreSQL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" y="44074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Primary Database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3931920"/>
            <a:ext cx="1920240" cy="804672"/>
          </a:xfrm>
          <a:prstGeom prst="roundRect">
            <a:avLst>
              <a:gd name="adj" fmla="val 7955"/>
            </a:avLst>
          </a:prstGeom>
          <a:solidFill>
            <a:srgbClr val="1E3A4A"/>
          </a:solidFill>
          <a:ln/>
        </p:spPr>
      </p:sp>
      <p:sp>
        <p:nvSpPr>
          <p:cNvPr id="45" name="Text 43"/>
          <p:cNvSpPr/>
          <p:nvPr/>
        </p:nvSpPr>
        <p:spPr>
          <a:xfrm>
            <a:off x="3246120" y="39319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Redis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46120" y="44074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Cache (Optional)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32120" y="3931920"/>
            <a:ext cx="2377440" cy="804672"/>
          </a:xfrm>
          <a:prstGeom prst="roundRect">
            <a:avLst>
              <a:gd name="adj" fmla="val 7955"/>
            </a:avLst>
          </a:prstGeom>
          <a:solidFill>
            <a:srgbClr val="162032"/>
          </a:solidFill>
          <a:ln/>
        </p:spPr>
      </p:sp>
      <p:sp>
        <p:nvSpPr>
          <p:cNvPr id="48" name="Text 46"/>
          <p:cNvSpPr/>
          <p:nvPr/>
        </p:nvSpPr>
        <p:spPr>
          <a:xfrm>
            <a:off x="5577840" y="39319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E8F4"/>
                </a:solidFill>
              </a:rPr>
              <a:t>Patient ⟺ WebRTC ⟺ Doctor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DE8F4"/>
                </a:solidFill>
              </a:rPr>
              <a:t>(Peer-to-Peer Video)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System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4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822960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8229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Patient Flow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" y="1316736"/>
            <a:ext cx="2743200" cy="427482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362456"/>
            <a:ext cx="274320" cy="2743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316736"/>
            <a:ext cx="223113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Register / Login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89888" y="168935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B6"/>
                </a:solidFill>
              </a:rPr>
              <a:t>▾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2608" y="1780794"/>
            <a:ext cx="2743200" cy="427482"/>
          </a:xfrm>
          <a:prstGeom prst="roundRect">
            <a:avLst>
              <a:gd name="adj" fmla="val 8556"/>
            </a:avLst>
          </a:prstGeom>
          <a:solidFill>
            <a:srgbClr val="E8EF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" y="1826514"/>
            <a:ext cx="274320" cy="2743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18265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1780794"/>
            <a:ext cx="223113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Select Doctor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89888" y="2153412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B6"/>
                </a:solidFill>
              </a:rPr>
              <a:t>▾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92608" y="2244852"/>
            <a:ext cx="2743200" cy="427482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" y="2290572"/>
            <a:ext cx="274320" cy="2743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2905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2244852"/>
            <a:ext cx="223113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Book Appointment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89888" y="261747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B6"/>
                </a:solidFill>
              </a:rPr>
              <a:t>▾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2608" y="2708910"/>
            <a:ext cx="2743200" cy="427482"/>
          </a:xfrm>
          <a:prstGeom prst="roundRect">
            <a:avLst>
              <a:gd name="adj" fmla="val 8556"/>
            </a:avLst>
          </a:prstGeom>
          <a:solidFill>
            <a:srgbClr val="E8EF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" y="2754630"/>
            <a:ext cx="274320" cy="2743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7546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" y="2708910"/>
            <a:ext cx="223113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Receive Queue Token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89888" y="3081528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B6"/>
                </a:solidFill>
              </a:rPr>
              <a:t>▾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2608" y="3172968"/>
            <a:ext cx="2743200" cy="427482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218688"/>
            <a:ext cx="274320" cy="2743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" y="3172968"/>
            <a:ext cx="223113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Track Live Queue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89888" y="3545586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B6"/>
                </a:solidFill>
              </a:rPr>
              <a:t>▾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2608" y="3637026"/>
            <a:ext cx="2743200" cy="427482"/>
          </a:xfrm>
          <a:prstGeom prst="roundRect">
            <a:avLst>
              <a:gd name="adj" fmla="val 8556"/>
            </a:avLst>
          </a:prstGeom>
          <a:solidFill>
            <a:srgbClr val="E8EF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84048" y="3682746"/>
            <a:ext cx="274320" cy="2743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36827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" y="3637026"/>
            <a:ext cx="223113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Receive Notification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89888" y="400964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B6"/>
                </a:solidFill>
              </a:rPr>
              <a:t>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92608" y="4101084"/>
            <a:ext cx="2743200" cy="427482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84048" y="4146804"/>
            <a:ext cx="274320" cy="2743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41468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" y="4101084"/>
            <a:ext cx="223113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Join Consultation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389888" y="4473702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7B6"/>
                </a:solidFill>
              </a:rPr>
              <a:t>▾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2608" y="4565142"/>
            <a:ext cx="2743200" cy="427482"/>
          </a:xfrm>
          <a:prstGeom prst="roundRect">
            <a:avLst>
              <a:gd name="adj" fmla="val 8556"/>
            </a:avLst>
          </a:prstGeom>
          <a:solidFill>
            <a:srgbClr val="E8EFF6"/>
          </a:solidFill>
          <a:ln/>
        </p:spPr>
      </p:sp>
      <p:sp>
        <p:nvSpPr>
          <p:cNvPr id="45" name="Shape 43"/>
          <p:cNvSpPr/>
          <p:nvPr/>
        </p:nvSpPr>
        <p:spPr>
          <a:xfrm>
            <a:off x="384048" y="4610862"/>
            <a:ext cx="274320" cy="2743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" y="46108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" y="4565142"/>
            <a:ext cx="223113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Consultation Done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18688" y="822960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3218688" y="8229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Doctor Flow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218688" y="1316736"/>
            <a:ext cx="274320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3310128" y="136245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2" name="Text 50"/>
          <p:cNvSpPr/>
          <p:nvPr/>
        </p:nvSpPr>
        <p:spPr>
          <a:xfrm>
            <a:off x="3310128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657600" y="1316736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Login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315968" y="1755648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▾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18688" y="1847088"/>
            <a:ext cx="2743200" cy="493776"/>
          </a:xfrm>
          <a:prstGeom prst="roundRect">
            <a:avLst>
              <a:gd name="adj" fmla="val 7407"/>
            </a:avLst>
          </a:prstGeom>
          <a:solidFill>
            <a:srgbClr val="E8EFF6"/>
          </a:solidFill>
          <a:ln/>
        </p:spPr>
      </p:sp>
      <p:sp>
        <p:nvSpPr>
          <p:cNvPr id="56" name="Shape 54"/>
          <p:cNvSpPr/>
          <p:nvPr/>
        </p:nvSpPr>
        <p:spPr>
          <a:xfrm>
            <a:off x="3310128" y="189280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7" name="Text 55"/>
          <p:cNvSpPr/>
          <p:nvPr/>
        </p:nvSpPr>
        <p:spPr>
          <a:xfrm>
            <a:off x="3310128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657600" y="1847088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View Schedule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315968" y="228600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▾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18688" y="2377440"/>
            <a:ext cx="274320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3310128" y="24231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2" name="Text 60"/>
          <p:cNvSpPr/>
          <p:nvPr/>
        </p:nvSpPr>
        <p:spPr>
          <a:xfrm>
            <a:off x="3310128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657600" y="2377440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View Queue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315968" y="2816352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▾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18688" y="2907792"/>
            <a:ext cx="2743200" cy="493776"/>
          </a:xfrm>
          <a:prstGeom prst="roundRect">
            <a:avLst>
              <a:gd name="adj" fmla="val 7407"/>
            </a:avLst>
          </a:prstGeom>
          <a:solidFill>
            <a:srgbClr val="E8EFF6"/>
          </a:solidFill>
          <a:ln/>
        </p:spPr>
      </p:sp>
      <p:sp>
        <p:nvSpPr>
          <p:cNvPr id="66" name="Shape 64"/>
          <p:cNvSpPr/>
          <p:nvPr/>
        </p:nvSpPr>
        <p:spPr>
          <a:xfrm>
            <a:off x="3310128" y="295351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7" name="Text 65"/>
          <p:cNvSpPr/>
          <p:nvPr/>
        </p:nvSpPr>
        <p:spPr>
          <a:xfrm>
            <a:off x="33101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657600" y="2907792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Call Next Patient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315968" y="334670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▾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18688" y="3438144"/>
            <a:ext cx="274320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3310128" y="348386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2" name="Text 70"/>
          <p:cNvSpPr/>
          <p:nvPr/>
        </p:nvSpPr>
        <p:spPr>
          <a:xfrm>
            <a:off x="3310128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657600" y="3438144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Start Consultation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315968" y="3877056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218688" y="3968496"/>
            <a:ext cx="2743200" cy="493776"/>
          </a:xfrm>
          <a:prstGeom prst="roundRect">
            <a:avLst>
              <a:gd name="adj" fmla="val 7407"/>
            </a:avLst>
          </a:prstGeom>
          <a:solidFill>
            <a:srgbClr val="E8EFF6"/>
          </a:solidFill>
          <a:ln/>
        </p:spPr>
      </p:sp>
      <p:sp>
        <p:nvSpPr>
          <p:cNvPr id="76" name="Shape 74"/>
          <p:cNvSpPr/>
          <p:nvPr/>
        </p:nvSpPr>
        <p:spPr>
          <a:xfrm>
            <a:off x="3310128" y="401421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7" name="Text 75"/>
          <p:cNvSpPr/>
          <p:nvPr/>
        </p:nvSpPr>
        <p:spPr>
          <a:xfrm>
            <a:off x="3310128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657600" y="3968496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Complete Consultation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315968" y="4407408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▾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18688" y="4498848"/>
            <a:ext cx="274320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3310128" y="454456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2" name="Text 80"/>
          <p:cNvSpPr/>
          <p:nvPr/>
        </p:nvSpPr>
        <p:spPr>
          <a:xfrm>
            <a:off x="3310128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657600" y="4498848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Next Patient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144768" y="822960"/>
            <a:ext cx="2743200" cy="420624"/>
          </a:xfrm>
          <a:prstGeom prst="roundRect">
            <a:avLst>
              <a:gd name="adj" fmla="val 13043"/>
            </a:avLst>
          </a:prstGeom>
          <a:solidFill>
            <a:srgbClr val="0096C7"/>
          </a:solidFill>
          <a:ln/>
        </p:spPr>
      </p:sp>
      <p:sp>
        <p:nvSpPr>
          <p:cNvPr id="85" name="Text 83"/>
          <p:cNvSpPr/>
          <p:nvPr/>
        </p:nvSpPr>
        <p:spPr>
          <a:xfrm>
            <a:off x="6144768" y="8229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Receptionist Flow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6144768" y="1316736"/>
            <a:ext cx="2743200" cy="582168"/>
          </a:xfrm>
          <a:prstGeom prst="roundRect">
            <a:avLst>
              <a:gd name="adj" fmla="val 6283"/>
            </a:avLst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6236208" y="1362456"/>
            <a:ext cx="274320" cy="27432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88" name="Text 86"/>
          <p:cNvSpPr/>
          <p:nvPr/>
        </p:nvSpPr>
        <p:spPr>
          <a:xfrm>
            <a:off x="6236208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583680" y="1316736"/>
            <a:ext cx="223113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Login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42048" y="184404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C7"/>
                </a:solidFill>
              </a:rPr>
              <a:t>▾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144768" y="1935480"/>
            <a:ext cx="2743200" cy="582168"/>
          </a:xfrm>
          <a:prstGeom prst="roundRect">
            <a:avLst>
              <a:gd name="adj" fmla="val 6283"/>
            </a:avLst>
          </a:prstGeom>
          <a:solidFill>
            <a:srgbClr val="E8EFF6"/>
          </a:solidFill>
          <a:ln/>
        </p:spPr>
      </p:sp>
      <p:sp>
        <p:nvSpPr>
          <p:cNvPr id="92" name="Shape 90"/>
          <p:cNvSpPr/>
          <p:nvPr/>
        </p:nvSpPr>
        <p:spPr>
          <a:xfrm>
            <a:off x="6236208" y="1981200"/>
            <a:ext cx="274320" cy="27432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93" name="Text 91"/>
          <p:cNvSpPr/>
          <p:nvPr/>
        </p:nvSpPr>
        <p:spPr>
          <a:xfrm>
            <a:off x="6236208" y="1981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6583680" y="1935480"/>
            <a:ext cx="223113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Register Patients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7242048" y="246278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C7"/>
                </a:solidFill>
              </a:rPr>
              <a:t>▾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144768" y="2554224"/>
            <a:ext cx="2743200" cy="582168"/>
          </a:xfrm>
          <a:prstGeom prst="roundRect">
            <a:avLst>
              <a:gd name="adj" fmla="val 6283"/>
            </a:avLst>
          </a:prstGeom>
          <a:solidFill>
            <a:srgbClr val="FFFFFF"/>
          </a:solidFill>
          <a:ln/>
        </p:spPr>
      </p:sp>
      <p:sp>
        <p:nvSpPr>
          <p:cNvPr id="97" name="Shape 95"/>
          <p:cNvSpPr/>
          <p:nvPr/>
        </p:nvSpPr>
        <p:spPr>
          <a:xfrm>
            <a:off x="6236208" y="2599944"/>
            <a:ext cx="274320" cy="27432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98" name="Text 96"/>
          <p:cNvSpPr/>
          <p:nvPr/>
        </p:nvSpPr>
        <p:spPr>
          <a:xfrm>
            <a:off x="6236208" y="2599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583680" y="2554224"/>
            <a:ext cx="223113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Manage Appointments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7242048" y="3081528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C7"/>
                </a:solidFill>
              </a:rPr>
              <a:t>▾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144768" y="3172968"/>
            <a:ext cx="2743200" cy="582168"/>
          </a:xfrm>
          <a:prstGeom prst="roundRect">
            <a:avLst>
              <a:gd name="adj" fmla="val 6283"/>
            </a:avLst>
          </a:prstGeom>
          <a:solidFill>
            <a:srgbClr val="E8EFF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236208" y="3218688"/>
            <a:ext cx="274320" cy="27432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103" name="Text 101"/>
          <p:cNvSpPr/>
          <p:nvPr/>
        </p:nvSpPr>
        <p:spPr>
          <a:xfrm>
            <a:off x="6236208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6583680" y="3172968"/>
            <a:ext cx="223113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Add Walk-ins to Queue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7242048" y="3700272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C7"/>
                </a:solidFill>
              </a:rPr>
              <a:t>▾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6144768" y="3791712"/>
            <a:ext cx="2743200" cy="582168"/>
          </a:xfrm>
          <a:prstGeom prst="roundRect">
            <a:avLst>
              <a:gd name="adj" fmla="val 6283"/>
            </a:avLst>
          </a:prstGeom>
          <a:solidFill>
            <a:srgbClr val="FFFFF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236208" y="3837432"/>
            <a:ext cx="274320" cy="27432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108" name="Text 106"/>
          <p:cNvSpPr/>
          <p:nvPr/>
        </p:nvSpPr>
        <p:spPr>
          <a:xfrm>
            <a:off x="6236208" y="3837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6583680" y="3791712"/>
            <a:ext cx="223113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Monitor Queue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7242048" y="4319016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C7"/>
                </a:solidFill>
              </a:rPr>
              <a:t>▾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144768" y="4410456"/>
            <a:ext cx="2743200" cy="582168"/>
          </a:xfrm>
          <a:prstGeom prst="roundRect">
            <a:avLst>
              <a:gd name="adj" fmla="val 6283"/>
            </a:avLst>
          </a:prstGeom>
          <a:solidFill>
            <a:srgbClr val="E8EFF6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236208" y="4456176"/>
            <a:ext cx="274320" cy="274320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113" name="Text 111"/>
          <p:cNvSpPr/>
          <p:nvPr/>
        </p:nvSpPr>
        <p:spPr>
          <a:xfrm>
            <a:off x="6236208" y="4456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6583680" y="4410456"/>
            <a:ext cx="223113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Update Patient Status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Existing Methods vs Proposed Method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5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822960"/>
            <a:ext cx="2212848" cy="566928"/>
          </a:xfrm>
          <a:prstGeom prst="roundRect">
            <a:avLst>
              <a:gd name="adj" fmla="val 9677"/>
            </a:avLst>
          </a:prstGeom>
          <a:solidFill>
            <a:srgbClr val="0A2342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822960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822960"/>
            <a:ext cx="1389888" cy="566928"/>
          </a:xfrm>
          <a:prstGeom prst="roundRect">
            <a:avLst>
              <a:gd name="adj" fmla="val 6452"/>
            </a:avLst>
          </a:prstGeom>
          <a:solidFill>
            <a:srgbClr val="0A2342"/>
          </a:solidFill>
          <a:ln/>
        </p:spPr>
      </p:sp>
      <p:sp>
        <p:nvSpPr>
          <p:cNvPr id="10" name="Text 8"/>
          <p:cNvSpPr/>
          <p:nvPr/>
        </p:nvSpPr>
        <p:spPr>
          <a:xfrm>
            <a:off x="2542032" y="82296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Traditional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Clinic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68496" y="822960"/>
            <a:ext cx="1389888" cy="566928"/>
          </a:xfrm>
          <a:prstGeom prst="roundRect">
            <a:avLst>
              <a:gd name="adj" fmla="val 6452"/>
            </a:avLst>
          </a:prstGeom>
          <a:solidFill>
            <a:srgbClr val="0A2342"/>
          </a:solidFill>
          <a:ln/>
        </p:spPr>
      </p:sp>
      <p:sp>
        <p:nvSpPr>
          <p:cNvPr id="12" name="Text 10"/>
          <p:cNvSpPr/>
          <p:nvPr/>
        </p:nvSpPr>
        <p:spPr>
          <a:xfrm>
            <a:off x="3968496" y="82296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Appointment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822960"/>
            <a:ext cx="1481328" cy="566928"/>
          </a:xfrm>
          <a:prstGeom prst="roundRect">
            <a:avLst>
              <a:gd name="adj" fmla="val 6452"/>
            </a:avLst>
          </a:prstGeom>
          <a:solidFill>
            <a:srgbClr val="0A2342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8229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Telemedicine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Platform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12864" y="822960"/>
            <a:ext cx="1801368" cy="566928"/>
          </a:xfrm>
          <a:prstGeom prst="roundRect">
            <a:avLst>
              <a:gd name="adj" fmla="val 6452"/>
            </a:avLst>
          </a:prstGeom>
          <a:solidFill>
            <a:srgbClr val="0077B6"/>
          </a:solidFill>
          <a:ln/>
        </p:spPr>
      </p:sp>
      <p:sp>
        <p:nvSpPr>
          <p:cNvPr id="16" name="Text 14"/>
          <p:cNvSpPr/>
          <p:nvPr/>
        </p:nvSpPr>
        <p:spPr>
          <a:xfrm>
            <a:off x="6912864" y="82296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MedConnect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(Proposed)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" y="1389888"/>
            <a:ext cx="221284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" y="138988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Patient Registration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42032" y="1389888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542032" y="1389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68496" y="1389888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968496" y="1389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1389888"/>
            <a:ext cx="148132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138988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12864" y="1389888"/>
            <a:ext cx="1801368" cy="329184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6912864" y="1389888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2608" y="1719072"/>
            <a:ext cx="221284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17190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Appointment Booking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42032" y="1719072"/>
            <a:ext cx="138988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30" name="Text 28"/>
          <p:cNvSpPr/>
          <p:nvPr/>
        </p:nvSpPr>
        <p:spPr>
          <a:xfrm>
            <a:off x="2542032" y="171907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968496" y="1719072"/>
            <a:ext cx="138988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32" name="Text 30"/>
          <p:cNvSpPr/>
          <p:nvPr/>
        </p:nvSpPr>
        <p:spPr>
          <a:xfrm>
            <a:off x="3968496" y="171907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94960" y="1719072"/>
            <a:ext cx="148132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0" y="171907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12864" y="1719072"/>
            <a:ext cx="1801368" cy="329184"/>
          </a:xfrm>
          <a:prstGeom prst="rect">
            <a:avLst/>
          </a:prstGeom>
          <a:solidFill>
            <a:srgbClr val="B2EBF2"/>
          </a:solidFill>
          <a:ln/>
        </p:spPr>
      </p:sp>
      <p:sp>
        <p:nvSpPr>
          <p:cNvPr id="36" name="Text 34"/>
          <p:cNvSpPr/>
          <p:nvPr/>
        </p:nvSpPr>
        <p:spPr>
          <a:xfrm>
            <a:off x="6912864" y="1719072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2608" y="2048256"/>
            <a:ext cx="221284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" y="204825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Queue Management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42032" y="2048256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542032" y="204825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968496" y="2048256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968496" y="204825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94960" y="2048256"/>
            <a:ext cx="148132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394960" y="20482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912864" y="2048256"/>
            <a:ext cx="1801368" cy="329184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46" name="Text 44"/>
          <p:cNvSpPr/>
          <p:nvPr/>
        </p:nvSpPr>
        <p:spPr>
          <a:xfrm>
            <a:off x="6912864" y="2048256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2608" y="2377440"/>
            <a:ext cx="221284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48" name="Text 46"/>
          <p:cNvSpPr/>
          <p:nvPr/>
        </p:nvSpPr>
        <p:spPr>
          <a:xfrm>
            <a:off x="292608" y="237744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Real-Time Queue Tracking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42032" y="2377440"/>
            <a:ext cx="138988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50" name="Text 48"/>
          <p:cNvSpPr/>
          <p:nvPr/>
        </p:nvSpPr>
        <p:spPr>
          <a:xfrm>
            <a:off x="2542032" y="23774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968496" y="2377440"/>
            <a:ext cx="138988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52" name="Text 50"/>
          <p:cNvSpPr/>
          <p:nvPr/>
        </p:nvSpPr>
        <p:spPr>
          <a:xfrm>
            <a:off x="3968496" y="23774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394960" y="2377440"/>
            <a:ext cx="148132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54" name="Text 52"/>
          <p:cNvSpPr/>
          <p:nvPr/>
        </p:nvSpPr>
        <p:spPr>
          <a:xfrm>
            <a:off x="5394960" y="237744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912864" y="2377440"/>
            <a:ext cx="1801368" cy="329184"/>
          </a:xfrm>
          <a:prstGeom prst="rect">
            <a:avLst/>
          </a:prstGeom>
          <a:solidFill>
            <a:srgbClr val="B2EBF2"/>
          </a:solidFill>
          <a:ln/>
        </p:spPr>
      </p:sp>
      <p:sp>
        <p:nvSpPr>
          <p:cNvPr id="56" name="Text 54"/>
          <p:cNvSpPr/>
          <p:nvPr/>
        </p:nvSpPr>
        <p:spPr>
          <a:xfrm>
            <a:off x="6912864" y="237744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92608" y="2706624"/>
            <a:ext cx="221284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292608" y="270662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Doctor Availability View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542032" y="2706624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2542032" y="270662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968496" y="2706624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3968496" y="270662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394960" y="2706624"/>
            <a:ext cx="148132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5394960" y="270662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912864" y="2706624"/>
            <a:ext cx="1801368" cy="329184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66" name="Text 64"/>
          <p:cNvSpPr/>
          <p:nvPr/>
        </p:nvSpPr>
        <p:spPr>
          <a:xfrm>
            <a:off x="6912864" y="2706624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92608" y="3035808"/>
            <a:ext cx="221284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68" name="Text 66"/>
          <p:cNvSpPr/>
          <p:nvPr/>
        </p:nvSpPr>
        <p:spPr>
          <a:xfrm>
            <a:off x="292608" y="30358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Patient Notifications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542032" y="3035808"/>
            <a:ext cx="138988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70" name="Text 68"/>
          <p:cNvSpPr/>
          <p:nvPr/>
        </p:nvSpPr>
        <p:spPr>
          <a:xfrm>
            <a:off x="2542032" y="303580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3968496" y="3035808"/>
            <a:ext cx="138988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72" name="Text 70"/>
          <p:cNvSpPr/>
          <p:nvPr/>
        </p:nvSpPr>
        <p:spPr>
          <a:xfrm>
            <a:off x="3968496" y="303580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394960" y="3035808"/>
            <a:ext cx="148132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74" name="Text 72"/>
          <p:cNvSpPr/>
          <p:nvPr/>
        </p:nvSpPr>
        <p:spPr>
          <a:xfrm>
            <a:off x="5394960" y="303580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6912864" y="3035808"/>
            <a:ext cx="1801368" cy="329184"/>
          </a:xfrm>
          <a:prstGeom prst="rect">
            <a:avLst/>
          </a:prstGeom>
          <a:solidFill>
            <a:srgbClr val="B2EBF2"/>
          </a:solidFill>
          <a:ln/>
        </p:spPr>
      </p:sp>
      <p:sp>
        <p:nvSpPr>
          <p:cNvPr id="76" name="Text 74"/>
          <p:cNvSpPr/>
          <p:nvPr/>
        </p:nvSpPr>
        <p:spPr>
          <a:xfrm>
            <a:off x="6912864" y="3035808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92608" y="3364992"/>
            <a:ext cx="221284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292608" y="336499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Physical Consultation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542032" y="3364992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2542032" y="336499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3968496" y="3364992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3968496" y="3364992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394960" y="3364992"/>
            <a:ext cx="148132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5394960" y="336499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912864" y="3364992"/>
            <a:ext cx="1801368" cy="329184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86" name="Text 84"/>
          <p:cNvSpPr/>
          <p:nvPr/>
        </p:nvSpPr>
        <p:spPr>
          <a:xfrm>
            <a:off x="6912864" y="3364992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292608" y="3694176"/>
            <a:ext cx="221284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88" name="Text 86"/>
          <p:cNvSpPr/>
          <p:nvPr/>
        </p:nvSpPr>
        <p:spPr>
          <a:xfrm>
            <a:off x="292608" y="369417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Video Tele-Consultation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542032" y="3694176"/>
            <a:ext cx="138988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90" name="Text 88"/>
          <p:cNvSpPr/>
          <p:nvPr/>
        </p:nvSpPr>
        <p:spPr>
          <a:xfrm>
            <a:off x="2542032" y="369417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3968496" y="3694176"/>
            <a:ext cx="138988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92" name="Text 90"/>
          <p:cNvSpPr/>
          <p:nvPr/>
        </p:nvSpPr>
        <p:spPr>
          <a:xfrm>
            <a:off x="3968496" y="369417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5394960" y="3694176"/>
            <a:ext cx="148132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94" name="Text 92"/>
          <p:cNvSpPr/>
          <p:nvPr/>
        </p:nvSpPr>
        <p:spPr>
          <a:xfrm>
            <a:off x="5394960" y="369417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6912864" y="3694176"/>
            <a:ext cx="1801368" cy="329184"/>
          </a:xfrm>
          <a:prstGeom prst="rect">
            <a:avLst/>
          </a:prstGeom>
          <a:solidFill>
            <a:srgbClr val="B2EBF2"/>
          </a:solidFill>
          <a:ln/>
        </p:spPr>
      </p:sp>
      <p:sp>
        <p:nvSpPr>
          <p:cNvPr id="96" name="Text 94"/>
          <p:cNvSpPr/>
          <p:nvPr/>
        </p:nvSpPr>
        <p:spPr>
          <a:xfrm>
            <a:off x="6912864" y="3694176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292608" y="4023360"/>
            <a:ext cx="221284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292608" y="40233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Receptionist Dashboard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2542032" y="4023360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2542032" y="402336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3968496" y="4023360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3968496" y="402336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5394960" y="4023360"/>
            <a:ext cx="148132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5394960" y="40233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6912864" y="4023360"/>
            <a:ext cx="1801368" cy="329184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06" name="Text 104"/>
          <p:cNvSpPr/>
          <p:nvPr/>
        </p:nvSpPr>
        <p:spPr>
          <a:xfrm>
            <a:off x="6912864" y="402336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292608" y="4352544"/>
            <a:ext cx="221284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108" name="Text 106"/>
          <p:cNvSpPr/>
          <p:nvPr/>
        </p:nvSpPr>
        <p:spPr>
          <a:xfrm>
            <a:off x="292608" y="435254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Doctor Dashboard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2542032" y="4352544"/>
            <a:ext cx="138988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110" name="Text 108"/>
          <p:cNvSpPr/>
          <p:nvPr/>
        </p:nvSpPr>
        <p:spPr>
          <a:xfrm>
            <a:off x="2542032" y="43525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3968496" y="4352544"/>
            <a:ext cx="138988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112" name="Text 110"/>
          <p:cNvSpPr/>
          <p:nvPr/>
        </p:nvSpPr>
        <p:spPr>
          <a:xfrm>
            <a:off x="3968496" y="43525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5394960" y="4352544"/>
            <a:ext cx="1481328" cy="329184"/>
          </a:xfrm>
          <a:prstGeom prst="rect">
            <a:avLst/>
          </a:prstGeom>
          <a:solidFill>
            <a:srgbClr val="E8EFF6"/>
          </a:solidFill>
          <a:ln/>
        </p:spPr>
      </p:sp>
      <p:sp>
        <p:nvSpPr>
          <p:cNvPr id="114" name="Text 112"/>
          <p:cNvSpPr/>
          <p:nvPr/>
        </p:nvSpPr>
        <p:spPr>
          <a:xfrm>
            <a:off x="5394960" y="435254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6912864" y="4352544"/>
            <a:ext cx="1801368" cy="329184"/>
          </a:xfrm>
          <a:prstGeom prst="rect">
            <a:avLst/>
          </a:prstGeom>
          <a:solidFill>
            <a:srgbClr val="B2EBF2"/>
          </a:solidFill>
          <a:ln/>
        </p:spPr>
      </p:sp>
      <p:sp>
        <p:nvSpPr>
          <p:cNvPr id="116" name="Text 114"/>
          <p:cNvSpPr/>
          <p:nvPr/>
        </p:nvSpPr>
        <p:spPr>
          <a:xfrm>
            <a:off x="6912864" y="4352544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292608" y="4681728"/>
            <a:ext cx="221284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Text 116"/>
          <p:cNvSpPr/>
          <p:nvPr/>
        </p:nvSpPr>
        <p:spPr>
          <a:xfrm>
            <a:off x="292608" y="468172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Integrated Platform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2542032" y="4681728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Text 118"/>
          <p:cNvSpPr/>
          <p:nvPr/>
        </p:nvSpPr>
        <p:spPr>
          <a:xfrm>
            <a:off x="2542032" y="46817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3968496" y="4681728"/>
            <a:ext cx="138988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20"/>
          <p:cNvSpPr/>
          <p:nvPr/>
        </p:nvSpPr>
        <p:spPr>
          <a:xfrm>
            <a:off x="3968496" y="468172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5394960" y="4681728"/>
            <a:ext cx="1481328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2"/>
          <p:cNvSpPr/>
          <p:nvPr/>
        </p:nvSpPr>
        <p:spPr>
          <a:xfrm>
            <a:off x="5394960" y="468172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6912864" y="4681728"/>
            <a:ext cx="1801368" cy="329184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26" name="Text 124"/>
          <p:cNvSpPr/>
          <p:nvPr/>
        </p:nvSpPr>
        <p:spPr>
          <a:xfrm>
            <a:off x="6912864" y="4681728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</a:rPr>
              <a:t>✓</a:t>
            </a:r>
            <a:endParaRPr lang="en-US" sz="1300" dirty="0"/>
          </a:p>
        </p:txBody>
      </p:sp>
      <p:sp>
        <p:nvSpPr>
          <p:cNvPr id="127" name="Text 125"/>
          <p:cNvSpPr/>
          <p:nvPr/>
        </p:nvSpPr>
        <p:spPr>
          <a:xfrm>
            <a:off x="292608" y="51023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✓ = Fully Supported   ~ = Partially Supported   ✗ = Not Supported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Innovations &amp; Advantages of MedConnect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5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2608" y="822960"/>
            <a:ext cx="41605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042416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8448" y="9144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Real-Time Queue Visibility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98448" y="126187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Patients see their live queue position without contacting reception — powered by WebSocket push events.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27448" y="822960"/>
            <a:ext cx="41605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73752" y="1042416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33288" y="9144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Integrated Appointment + Queue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33288" y="126187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Appointment booking is directly linked to the clinic live queue — no disconnect between scheduling and actual waiting.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2157984"/>
            <a:ext cx="41605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2377440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98448" y="22494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Real-Time Updates via WebSocket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298448" y="2596896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Any status change (doctor availability, next patient called) propagates instantly to all connected users.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27448" y="2157984"/>
            <a:ext cx="41605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73752" y="2377440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🎥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33288" y="22494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Tele-Consultation via WebRTC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33288" y="2596896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Patients consult doctors remotely using peer-to-peer audio/video — no dedicated media server required.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" y="3493008"/>
            <a:ext cx="41605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8912" y="3712464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37124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98448" y="35844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Role-Based Dashboards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98448" y="393192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Distinct, purpose-built interfaces for patients, doctors, and receptionists — reducing complexity for each user.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27448" y="3493008"/>
            <a:ext cx="41605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73752" y="3712464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37124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733288" y="35844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</a:rPr>
              <a:t>Centralized Clinic Management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733288" y="393192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Appointments, queue, patients, doctors, and consultations are all managed from a single integrated platform.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Development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280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</a:rPr>
              <a:t>CRITERION 4 / 5 Marks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96112" y="1078992"/>
            <a:ext cx="7406640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896112"/>
            <a:ext cx="475488" cy="475488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" y="1417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</a:rPr>
              <a:t>Requirement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2342"/>
                </a:solidFill>
              </a:rPr>
              <a:t>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" y="2011680"/>
            <a:ext cx="1353312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" y="2011680"/>
            <a:ext cx="1353312" cy="25603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" y="20116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230428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User roles &amp; personas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" y="292608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Functional requirements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" y="354787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System architecture design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896112"/>
            <a:ext cx="475488" cy="475488"/>
          </a:xfrm>
          <a:prstGeom prst="ellipse">
            <a:avLst/>
          </a:prstGeom>
          <a:solidFill>
            <a:srgbClr val="005F73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00784" y="1417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F73"/>
                </a:solidFill>
              </a:rPr>
              <a:t>Backend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5F73"/>
                </a:solidFill>
              </a:rPr>
              <a:t>Database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00784" y="2011680"/>
            <a:ext cx="1353312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00784" y="2011680"/>
            <a:ext cx="1353312" cy="25603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22" name="Text 20"/>
          <p:cNvSpPr/>
          <p:nvPr/>
        </p:nvSpPr>
        <p:spPr>
          <a:xfrm>
            <a:off x="1700784" y="20116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792224" y="230428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PostgreSQL schema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92224" y="292608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Prisma models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92224" y="354787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Express REST APIs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92224" y="416966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JWT auth &amp; RBAC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896112"/>
            <a:ext cx="475488" cy="475488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72384" y="1417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7B6"/>
                </a:solidFill>
              </a:rPr>
              <a:t>Frontend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77B6"/>
                </a:solidFill>
              </a:rPr>
              <a:t>Development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72384" y="2011680"/>
            <a:ext cx="1353312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072384" y="2011680"/>
            <a:ext cx="1353312" cy="25603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2" name="Text 30"/>
          <p:cNvSpPr/>
          <p:nvPr/>
        </p:nvSpPr>
        <p:spPr>
          <a:xfrm>
            <a:off x="3072384" y="20116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163824" y="230428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Patient dashboard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63824" y="292608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Doctor 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63824" y="354787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Receptionist UI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63824" y="416966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Appointment interface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89611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443984" y="1417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Real-Time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Queue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43984" y="2011680"/>
            <a:ext cx="1353312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43984" y="2011680"/>
            <a:ext cx="135331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4443984" y="20116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35424" y="230428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Socket.IO integration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35424" y="292608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Queue state sync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35424" y="354787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Live notifications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896112"/>
            <a:ext cx="475488" cy="475488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815584" y="1417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</a:rPr>
              <a:t>Tele-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</a:rPr>
              <a:t>Consultation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815584" y="2011680"/>
            <a:ext cx="1353312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815584" y="2011680"/>
            <a:ext cx="1353312" cy="25603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51" name="Text 49"/>
          <p:cNvSpPr/>
          <p:nvPr/>
        </p:nvSpPr>
        <p:spPr>
          <a:xfrm>
            <a:off x="5815584" y="20116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07024" y="230428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WebRTC integration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07024" y="292608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Signaling server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07024" y="354787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Video call UI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98080" y="896112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6" name="Text 54"/>
          <p:cNvSpPr/>
          <p:nvPr/>
        </p:nvSpPr>
        <p:spPr>
          <a:xfrm>
            <a:off x="7498080" y="896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187184" y="1417320"/>
            <a:ext cx="1353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Testing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Deployment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187184" y="2011680"/>
            <a:ext cx="1353312" cy="270662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BFD5E8">
                <a:alpha val="4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187184" y="2011680"/>
            <a:ext cx="1353312" cy="2560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0" name="Text 58"/>
          <p:cNvSpPr/>
          <p:nvPr/>
        </p:nvSpPr>
        <p:spPr>
          <a:xfrm>
            <a:off x="7187184" y="20116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6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278624" y="230428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API &amp; integration tests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278624" y="292608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Security testing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278624" y="354787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Deployment setup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9184" y="4773168"/>
            <a:ext cx="8485632" cy="256032"/>
          </a:xfrm>
          <a:prstGeom prst="roundRect">
            <a:avLst>
              <a:gd name="adj" fmla="val 14286"/>
            </a:avLst>
          </a:prstGeom>
          <a:solidFill>
            <a:srgbClr val="0A2342"/>
          </a:solidFill>
          <a:ln/>
        </p:spPr>
      </p:sp>
      <p:sp>
        <p:nvSpPr>
          <p:cNvPr id="65" name="Text 63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Development is iterative — each phase builds on the previous. Review-1 covers Phases 1–2 (Requirements &amp; Architecture).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Expected Outcomes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852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DE8F4"/>
                </a:solidFill>
              </a:rPr>
              <a:t>CRITERION 4 + 5  –  Proposed Plan &amp; Comparison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29184" cy="329184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👁️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932688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Real-time queue visibility for patients — reduce uncertainty, not just waiting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29184" cy="329184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481328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Faster clinic operations through digital appointment and queue management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329184" cy="329184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29968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Better coordination between patients, doctors, and receptionists on one platform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329184" cy="329184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78608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Remote tele-consultation via WebRTC for follow-ups and minor consultations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329184" cy="329184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127248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Secure, role-based access ensuring data privacy for all users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329184" cy="329184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675888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Centralized platform replacing fragmented manual and digital processes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279392"/>
            <a:ext cx="6035040" cy="585216"/>
          </a:xfrm>
          <a:prstGeom prst="roundRect">
            <a:avLst>
              <a:gd name="adj" fmla="val 12500"/>
            </a:avLst>
          </a:prstGeom>
          <a:solidFill>
            <a:srgbClr val="0077B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7939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FFFFF"/>
                </a:solidFill>
              </a:rPr>
              <a:t>"From waiting blindly to knowing exactly where you are in the queue."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65392" y="822960"/>
            <a:ext cx="2286000" cy="2926080"/>
          </a:xfrm>
          <a:prstGeom prst="roundRect">
            <a:avLst>
              <a:gd name="adj" fmla="val 4000"/>
            </a:avLst>
          </a:prstGeom>
          <a:solidFill>
            <a:srgbClr val="0D2E50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914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🙏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565392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022592" y="2048256"/>
            <a:ext cx="13716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DE8F4"/>
                </a:solidFill>
              </a:rPr>
              <a:t>Questions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DE8F4"/>
                </a:solidFill>
              </a:rPr>
              <a:t>Discussion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65392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B8"/>
                </a:solidFill>
              </a:rPr>
              <a:t>Project Guide: [Guide Name]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65392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B8"/>
                </a:solidFill>
              </a:rPr>
              <a:t>Dept. of CSE  •  SR University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65392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8DB8"/>
                </a:solidFill>
              </a:rPr>
              <a:t>Academic Year 2025–26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2026-08-24T03:21:46Z</dcterms:created>
  <dcterms:modified xsi:type="dcterms:W3CDTF">2026-08-24T03:21:46Z</dcterms:modified>
</cp:coreProperties>
</file>